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3" r:id="rId19"/>
    <p:sldId id="284" r:id="rId20"/>
    <p:sldId id="285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54D633-9C92-4EAC-AD9E-D240256A8151}">
  <a:tblStyle styleId="{3454D633-9C92-4EAC-AD9E-D240256A81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45" autoAdjust="0"/>
  </p:normalViewPr>
  <p:slideViewPr>
    <p:cSldViewPr snapToGrid="0">
      <p:cViewPr varScale="1">
        <p:scale>
          <a:sx n="130" d="100"/>
          <a:sy n="130" d="100"/>
        </p:scale>
        <p:origin x="8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a19360fac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a19360fac_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474f8eb5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474f8eb5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a03b3eb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a03b3ebb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54ca8caf6_0_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54ca8caf6_0_9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4ca8caf6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54ca8caf6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54ca8caf6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54ca8caf6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54ca8caf6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54ca8caf6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456375ee7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456375ee7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a4c6a4526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a4c6a4526_4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a4c6a4526_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a4c6a4526_4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54ca8ca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54ca8ca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4a92be1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4a92be1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473d6e4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473d6e4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4a92be1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54a92be1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4a92be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54a92be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4a92be1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54a92be1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54a92be1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54a92be1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54a92be1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54a92be1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54ca8caf6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54ca8caf6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a1cc141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a1cc141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65234"/>
          <a:stretch/>
        </p:blipFill>
        <p:spPr>
          <a:xfrm>
            <a:off x="152400" y="152400"/>
            <a:ext cx="8839199" cy="15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761892" y="3305750"/>
            <a:ext cx="3229708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 guidance of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Verdine Saviola Noronha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CSE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222738" y="3511062"/>
            <a:ext cx="3877062" cy="99318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Karishma M 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G Shraddha Kumari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 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Prakruti C Nayak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2844050"/>
            <a:ext cx="338210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ID:CEC/CSE/2026-27/P-32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8134E6-1CEE-8DF6-4754-4F7960AAC46C}"/>
              </a:ext>
            </a:extLst>
          </p:cNvPr>
          <p:cNvSpPr txBox="1"/>
          <p:nvPr/>
        </p:nvSpPr>
        <p:spPr>
          <a:xfrm>
            <a:off x="1090246" y="2086708"/>
            <a:ext cx="6664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MOCK INTERVIEW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86252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629507"/>
            <a:ext cx="8520600" cy="3194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Simulates real interview rounds with MCQs and behavioral (voice-based) questions.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time-bound, exam-style environment to improve accuracy and confidence.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AI-based speech recognition and automated scoring for behavioral responses.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practice, evaluate performance, and identify areas for improvement.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1802875"/>
            <a:ext cx="8520600" cy="841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17"/>
          <p:cNvGraphicFramePr/>
          <p:nvPr>
            <p:extLst>
              <p:ext uri="{D42A27DB-BD31-4B8C-83A1-F6EECF244321}">
                <p14:modId xmlns:p14="http://schemas.microsoft.com/office/powerpoint/2010/main" val="962496692"/>
              </p:ext>
            </p:extLst>
          </p:nvPr>
        </p:nvGraphicFramePr>
        <p:xfrm>
          <a:off x="109738" y="183388"/>
          <a:ext cx="8924525" cy="4755020"/>
        </p:xfrm>
        <a:graphic>
          <a:graphicData uri="http://schemas.openxmlformats.org/drawingml/2006/table">
            <a:tbl>
              <a:tblPr>
                <a:noFill/>
                <a:tableStyleId>{3454D633-9C92-4EAC-AD9E-D240256A8151}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Authors 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Title 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Methodology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Key results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Scope for improvement</a:t>
                      </a:r>
                      <a:endParaRPr sz="1100" b="1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8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dirty="0"/>
                        <a:t>Sangeetha V. et al. (2024)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Automatic Scoring of Autobiographical Interview Using NLP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Transformer-based NLP + semantic density scoring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Achieved high correlation (0.78) with human raters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Struggles with vague/short responses; lacks multimodal cues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Annish Brislin M.R. et al. (2025)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AI-Enabled Automated Interview Evaluation System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Web system + semantic analysis + automated scoring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Reduced manual evaluation workload significantly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Backend scalability issues; no emotion/body-language analysis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97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Chen &amp; Li (2025)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Smart Interview Simulator with Real-Time Speech &amp; Emotion Analysis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Speech recognition + facial emotion detection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Increased user confidence; real-time analytical feedback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Emotion accuracy drops in noisy environments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8"/>
          <p:cNvGraphicFramePr/>
          <p:nvPr>
            <p:extLst>
              <p:ext uri="{D42A27DB-BD31-4B8C-83A1-F6EECF244321}">
                <p14:modId xmlns:p14="http://schemas.microsoft.com/office/powerpoint/2010/main" val="864947004"/>
              </p:ext>
            </p:extLst>
          </p:nvPr>
        </p:nvGraphicFramePr>
        <p:xfrm>
          <a:off x="0" y="0"/>
          <a:ext cx="9084528" cy="5143500"/>
        </p:xfrm>
        <a:graphic>
          <a:graphicData uri="http://schemas.openxmlformats.org/drawingml/2006/table">
            <a:tbl>
              <a:tblPr>
                <a:noFill/>
                <a:tableStyleId>{3454D633-9C92-4EAC-AD9E-D240256A8151}</a:tableStyleId>
              </a:tblPr>
              <a:tblGrid>
                <a:gridCol w="492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3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1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7472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Jones et al. (2022)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Automated Scoring of Speaking and Writing – A Review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Hybrid acoustic–linguistic scoring models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55% improvement in reliability across languages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Bias issues, low explainability, fairness concerns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353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Cheng et al. (2022)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Automatic Scoring of Spoken Language Using Acoustic &amp; Linguistic Features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MFCC features + syntactic complexity metrics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dirty="0"/>
                        <a:t>62% improvement in pronunciation scoring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Weak for spontaneous/unstructured answers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6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Isbell et al. (2023)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ASR Reliability for Automated Scoring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ASR transcript evaluation under varied accents/noise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Improved scoring efficiency by 67%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25% transcription error for accented speech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9"/>
          <p:cNvGraphicFramePr/>
          <p:nvPr>
            <p:extLst>
              <p:ext uri="{D42A27DB-BD31-4B8C-83A1-F6EECF244321}">
                <p14:modId xmlns:p14="http://schemas.microsoft.com/office/powerpoint/2010/main" val="1350082857"/>
              </p:ext>
            </p:extLst>
          </p:nvPr>
        </p:nvGraphicFramePr>
        <p:xfrm>
          <a:off x="144358" y="128954"/>
          <a:ext cx="8999642" cy="4668943"/>
        </p:xfrm>
        <a:graphic>
          <a:graphicData uri="http://schemas.openxmlformats.org/drawingml/2006/table">
            <a:tbl>
              <a:tblPr>
                <a:noFill/>
                <a:tableStyleId>{3454D633-9C92-4EAC-AD9E-D240256A8151}</a:tableStyleId>
              </a:tblPr>
              <a:tblGrid>
                <a:gridCol w="38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3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83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6661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7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Hacking &amp; Gupta (2022)</a:t>
                      </a:r>
                      <a:endParaRPr dirty="0"/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r>
                        <a:rPr lang="en-US" sz="1200" dirty="0">
                          <a:highlight>
                            <a:schemeClr val="lt1"/>
                          </a:highlight>
                        </a:rPr>
                        <a:t>nterview-Domain ASR Model Training</a:t>
                      </a:r>
                      <a:endParaRPr sz="1350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Domain-specific ASR acoustic training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30% reduction in word error rate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Requires large annotated datasets; not scalable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282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Park et al. (2024)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ASR Bias in Personnel Selection</a:t>
                      </a:r>
                      <a:endParaRPr dirty="0"/>
                    </a:p>
                  </a:txBody>
                  <a:tcPr marL="91425" marR="91425" marT="91425" marB="91425"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Bias analysis + dialect testing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Identified up to 28% higher error for minority speakers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Requires fairness metrics + better mitigation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6" name="Google Shape;96;p19"/>
          <p:cNvCxnSpPr>
            <a:cxnSpLocks/>
          </p:cNvCxnSpPr>
          <p:nvPr/>
        </p:nvCxnSpPr>
        <p:spPr>
          <a:xfrm flipV="1">
            <a:off x="9133200" y="15300"/>
            <a:ext cx="3366" cy="122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Google Shape;104;p20"/>
          <p:cNvGraphicFramePr/>
          <p:nvPr>
            <p:extLst>
              <p:ext uri="{D42A27DB-BD31-4B8C-83A1-F6EECF244321}">
                <p14:modId xmlns:p14="http://schemas.microsoft.com/office/powerpoint/2010/main" val="133419133"/>
              </p:ext>
            </p:extLst>
          </p:nvPr>
        </p:nvGraphicFramePr>
        <p:xfrm>
          <a:off x="147800" y="145999"/>
          <a:ext cx="8884687" cy="3466996"/>
        </p:xfrm>
        <a:graphic>
          <a:graphicData uri="http://schemas.openxmlformats.org/drawingml/2006/table">
            <a:tbl>
              <a:tblPr>
                <a:noFill/>
                <a:tableStyleId>{3454D633-9C92-4EAC-AD9E-D240256A8151}</a:tableStyleId>
              </a:tblPr>
              <a:tblGrid>
                <a:gridCol w="383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6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0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33498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Saha (2023)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Real-Time Voice-Based Automated Interview Agent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AI voice agent + follow-up question generation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52% improvement in interview efficiency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Behavioral scoring still shallow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98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Van </a:t>
                      </a:r>
                      <a:r>
                        <a:rPr lang="en-US" dirty="0" err="1"/>
                        <a:t>Genugten</a:t>
                      </a:r>
                      <a:r>
                        <a:rPr lang="en-US" dirty="0"/>
                        <a:t> (2024)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NLP-Based Scoring of Autobiographical Interviews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Transformer NLP + semantic coherence scoring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85% reduction in scoring time; 0.78 correlation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Overfits domain; no emotion/prosody analysis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FEFF1"/>
              </a:solidFill>
              <a:highlight>
                <a:srgbClr val="1D1D2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FEFF1"/>
              </a:solidFill>
              <a:highlight>
                <a:srgbClr val="1D1D2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EFEFF1"/>
              </a:solidFill>
              <a:highlight>
                <a:srgbClr val="1D1D20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50">
              <a:solidFill>
                <a:srgbClr val="EFEFF1"/>
              </a:solidFill>
              <a:highlight>
                <a:srgbClr val="1D1D20"/>
              </a:highlight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398585" y="1017725"/>
            <a:ext cx="6676292" cy="351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chemeClr val="dk1"/>
                </a:solidFill>
              </a:rPr>
              <a:t> 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chemeClr val="dk2"/>
                </a:solidFill>
              </a:rPr>
              <a:t>  </a:t>
            </a:r>
            <a:endParaRPr sz="2000" dirty="0">
              <a:solidFill>
                <a:schemeClr val="dk2"/>
              </a:solidFill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multi-round simulation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behavioral scoring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 of dynamic question generation 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analytics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a realistic platform to practice interviews in a time-bound environment. Existing platforms provide basic question banks but fail to simulate time pressure, dynamic questioning, and behavioral rounds with meaningful feedback. There is a need for an integrated system that is capable of all these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216675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973026"/>
            <a:ext cx="7695162" cy="3464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001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unified platform that simulates both technical MCQ and behavioral interview rounds.</a:t>
            </a:r>
          </a:p>
          <a:p>
            <a:pPr marL="8001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AI-based speech evaluation to assess clarity, structure, and delivery of responses.</a:t>
            </a:r>
          </a:p>
          <a:p>
            <a:pPr marL="8001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scoring, analytics, and session history for continuous performance tracking.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292350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sz="2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</a:t>
            </a:r>
          </a:p>
          <a:p>
            <a:pPr marL="342900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 (WI-FI/4G/5G)</a:t>
            </a:r>
          </a:p>
          <a:p>
            <a:pPr marL="342900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storage for database</a:t>
            </a:r>
          </a:p>
          <a:p>
            <a:pPr marL="342900"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built-in or external microphone 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292350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REQUIREMENTS</a:t>
            </a:r>
            <a:endParaRPr b="1"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sz="2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live server extension, web browser, CSV/JSON files </a:t>
            </a:r>
          </a:p>
          <a:p>
            <a:pPr marL="342900" algn="just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Bootstrap</a:t>
            </a:r>
          </a:p>
          <a:p>
            <a:pPr marL="342900" algn="just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backend: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algn="just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Built- in local storage </a:t>
            </a:r>
          </a:p>
          <a:p>
            <a:pPr marL="342900" algn="just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packages: Web speech API,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MediaDevices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FileReader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1766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B9A96-8117-F505-EB4F-54DE36941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16" y="965198"/>
            <a:ext cx="7276368" cy="4096239"/>
          </a:xfrm>
          <a:prstGeom prst="rect">
            <a:avLst/>
          </a:prstGeom>
        </p:spPr>
      </p:pic>
      <p:sp>
        <p:nvSpPr>
          <p:cNvPr id="4" name="Google Shape;134;p25">
            <a:extLst>
              <a:ext uri="{FF2B5EF4-FFF2-40B4-BE49-F238E27FC236}">
                <a16:creationId xmlns:a16="http://schemas.microsoft.com/office/drawing/2014/main" id="{E55C733B-D104-6A35-9B4F-121DBFB60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350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175325" y="123891"/>
            <a:ext cx="8358399" cy="765717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5750A1-6950-5E47-355E-2DEE6684B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3415" y="1277478"/>
            <a:ext cx="79951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 Selection for MCQ Tests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Randomized Technical Question Generation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Timer-Based MCQ Examination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Interview Speech Recording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Transcript Evaluation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with Performance Analytics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Panel for CSV/JSON Question Upload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9D87D-BEC3-631A-D315-D9405E491412}"/>
              </a:ext>
            </a:extLst>
          </p:cNvPr>
          <p:cNvSpPr txBox="1"/>
          <p:nvPr/>
        </p:nvSpPr>
        <p:spPr>
          <a:xfrm>
            <a:off x="378588" y="1928446"/>
            <a:ext cx="838682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for college students and job seekers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assessment tool for placement cells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mock interviews for skill development platforms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Self-assessment tool for improving communication and confidence</a:t>
            </a:r>
          </a:p>
          <a:p>
            <a:pPr algn="just"/>
            <a:endParaRPr lang="en-US" dirty="0"/>
          </a:p>
        </p:txBody>
      </p:sp>
      <p:sp>
        <p:nvSpPr>
          <p:cNvPr id="3" name="Google Shape;147;p27">
            <a:extLst>
              <a:ext uri="{FF2B5EF4-FFF2-40B4-BE49-F238E27FC236}">
                <a16:creationId xmlns:a16="http://schemas.microsoft.com/office/drawing/2014/main" id="{BC6C1E26-7565-4A9C-6141-1ADB0C3A3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325" y="457999"/>
            <a:ext cx="8358399" cy="765717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400"/>
              </a:spcBef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APPLICATION AREAS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743825" y="1010300"/>
            <a:ext cx="7361400" cy="31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25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1125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125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125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50B7D-046F-B7F8-7BF2-CAB7851F74C1}"/>
              </a:ext>
            </a:extLst>
          </p:cNvPr>
          <p:cNvSpPr txBox="1"/>
          <p:nvPr/>
        </p:nvSpPr>
        <p:spPr>
          <a:xfrm>
            <a:off x="93786" y="1740877"/>
            <a:ext cx="86223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practice complete multi-round interviews in one system, improving overall preparedness.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automated, meaningful feedback that enhances communication       and behavioral skills.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gain insights into strengths and weaknesses, enabling targeted improvement over time.</a:t>
            </a:r>
          </a:p>
        </p:txBody>
      </p:sp>
      <p:sp>
        <p:nvSpPr>
          <p:cNvPr id="3" name="Google Shape;147;p27">
            <a:extLst>
              <a:ext uri="{FF2B5EF4-FFF2-40B4-BE49-F238E27FC236}">
                <a16:creationId xmlns:a16="http://schemas.microsoft.com/office/drawing/2014/main" id="{3296E199-8596-22D5-2DA0-AC9F232C3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325" y="123891"/>
            <a:ext cx="8358399" cy="765717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44E920-CE02-D885-2197-2A5A11A16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613885"/>
            <a:ext cx="870334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unified platform for practicing both technical MCQs and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interview rounds.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speech evaluation improves users’ communication and confidence through automated feedback.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scoring and analytics help users identify strengths and areas for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simulator enhances interview readiness by offering a realistic,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structured, and interactive practice environment.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>
            <a:spLocks noGrp="1"/>
          </p:cNvSpPr>
          <p:nvPr>
            <p:ph type="title"/>
          </p:nvPr>
        </p:nvSpPr>
        <p:spPr>
          <a:xfrm>
            <a:off x="311700" y="433753"/>
            <a:ext cx="8520600" cy="64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371B14-88E1-D0D7-F376-5735CD7BF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171208"/>
            <a:ext cx="8832300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 V. Sangeetha, M. Balakumaran, P. Kalaiselvi, S. Harini, A. S.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Naimesha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M.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Sribalaji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“Automatic Scoring of Autobiographical Interview Using NLP,”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Computational Linguistics and Speech Processing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Brislin M. R., A. Mayan J., R. A.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Canessane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A. Hamlin M. R.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“AI-Enabled Automated Interview Evaluation System,”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Communication and Electronics Systems (ICCES)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Y. Chen and L. Li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“AI-Driven Smart Interview Simulator with Real-Time Emotion and Speech Analysis,”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International Conference on Intelligent Computing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K. Jones, P. Wiliams, and R. Walker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“Automated Scoring of Speaking and Writing – A Review,”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Language Assessment Technologies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L. Cheng and Q. Zhao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“Automatic Scoring of Spoken Language Using Acoustic and Linguistic Features,”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Transactions on Audio, Speech, and Language Processing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J. Isbell, T. Carter, and M. Singh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“ASR Reliability for Automated Scoring Under Accented and Noisy Conditions,”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Speech Processing Symposium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R. Hacking and A. Gupta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“Domain-Adapted ASR Models for Interview Speech Recognition,”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Speech and Signal Processing (ICSSP)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S. Park, L. Martinez, and G. Young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“ASR Bias in Personnel Selection: A Fairness and Reliability Study,”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ACM Conference on Artificial Intelligence and Ethics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Saha,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“Real-Time Voice-Based Automated Interview Agent,”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Human-Computer Interaction (HCI)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T. Van </a:t>
            </a:r>
            <a:r>
              <a:rPr kumimoji="0" lang="en-US" altLang="en-US" sz="11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Genugten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“Transformer-Based Scoring of Autobiographical Interviews,”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European Conference on Natural Language Processing (ECNLP)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/>
        </p:nvSpPr>
        <p:spPr>
          <a:xfrm>
            <a:off x="1189950" y="1901325"/>
            <a:ext cx="67641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>
                <a:solidFill>
                  <a:schemeClr val="dk2"/>
                </a:solidFill>
              </a:rPr>
              <a:t>THANK YOU</a:t>
            </a:r>
            <a:endParaRPr sz="4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1192</Words>
  <Application>Microsoft Office PowerPoint</Application>
  <PresentationFormat>On-screen Show (16:9)</PresentationFormat>
  <Paragraphs>160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Simple Light</vt:lpstr>
      <vt:lpstr>PowerPoint Presentation</vt:lpstr>
      <vt:lpstr>TABLE OF CONTENTS</vt:lpstr>
      <vt:lpstr>INTRODUCTION</vt:lpstr>
      <vt:lpstr>LITERATURE SURVEY</vt:lpstr>
      <vt:lpstr>PowerPoint Presentation</vt:lpstr>
      <vt:lpstr>PowerPoint Presentation</vt:lpstr>
      <vt:lpstr>PowerPoint Presentation</vt:lpstr>
      <vt:lpstr>PowerPoint Presentation</vt:lpstr>
      <vt:lpstr>RESEARCH GAP</vt:lpstr>
      <vt:lpstr>PROBLEM STATEMENT</vt:lpstr>
      <vt:lpstr>OBJECTIVES</vt:lpstr>
      <vt:lpstr>REQUIREMENTS</vt:lpstr>
      <vt:lpstr>REQUIREMENTS</vt:lpstr>
      <vt:lpstr>ARCHITECTURE DIAGRAM</vt:lpstr>
      <vt:lpstr>SCOPE</vt:lpstr>
      <vt:lpstr>    APPLICATION AREAS</vt:lpstr>
      <vt:lpstr>RESULTS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prakruti nayak</cp:lastModifiedBy>
  <cp:revision>10</cp:revision>
  <dcterms:modified xsi:type="dcterms:W3CDTF">2025-11-27T10:11:35Z</dcterms:modified>
</cp:coreProperties>
</file>